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9" r:id="rId2"/>
    <p:sldId id="261" r:id="rId3"/>
    <p:sldId id="262" r:id="rId4"/>
    <p:sldId id="276" r:id="rId5"/>
    <p:sldId id="277" r:id="rId6"/>
    <p:sldId id="278" r:id="rId7"/>
    <p:sldId id="275" r:id="rId8"/>
    <p:sldId id="287" r:id="rId9"/>
    <p:sldId id="285" r:id="rId10"/>
    <p:sldId id="263" r:id="rId11"/>
    <p:sldId id="260" r:id="rId12"/>
    <p:sldId id="267" r:id="rId13"/>
    <p:sldId id="266" r:id="rId14"/>
    <p:sldId id="272" r:id="rId15"/>
    <p:sldId id="269" r:id="rId16"/>
    <p:sldId id="280" r:id="rId17"/>
    <p:sldId id="257" r:id="rId18"/>
    <p:sldId id="284" r:id="rId19"/>
    <p:sldId id="258" r:id="rId20"/>
    <p:sldId id="282" r:id="rId21"/>
    <p:sldId id="270" r:id="rId22"/>
    <p:sldId id="283" r:id="rId23"/>
    <p:sldId id="286" r:id="rId24"/>
    <p:sldId id="273" r:id="rId25"/>
  </p:sldIdLst>
  <p:sldSz cx="12192000" cy="6858000"/>
  <p:notesSz cx="6858000" cy="9144000"/>
  <p:defaultTextStyle>
    <a:defPPr>
      <a:defRPr lang="ja-A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12"/>
    <p:restoredTop sz="94694"/>
  </p:normalViewPr>
  <p:slideViewPr>
    <p:cSldViewPr snapToGrid="0">
      <p:cViewPr varScale="1">
        <p:scale>
          <a:sx n="121" d="100"/>
          <a:sy n="121" d="100"/>
        </p:scale>
        <p:origin x="1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C7494-9878-4849-B0F4-A008032F1105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AU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AU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9F0A4-0D2A-C44A-98E8-3E836F059A22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084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928351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4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526953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5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18851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6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4019828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7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59877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AU" altLang="ja-AU" dirty="0"/>
              <a:t>https://</a:t>
            </a:r>
            <a:r>
              <a:rPr kumimoji="1" lang="en-AU" altLang="ja-AU" dirty="0" err="1"/>
              <a:t>www.powline.com</a:t>
            </a:r>
            <a:r>
              <a:rPr kumimoji="1" lang="en-AU" altLang="ja-AU" dirty="0"/>
              <a:t>/technotes/</a:t>
            </a:r>
            <a:r>
              <a:rPr kumimoji="1" lang="en-AU" altLang="ja-AU" dirty="0" err="1"/>
              <a:t>ThermalRating.pdf</a:t>
            </a:r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9F0A4-0D2A-C44A-98E8-3E836F059A22}" type="slidenum">
              <a:rPr kumimoji="1" lang="ja-AU" altLang="en-US" smtClean="0"/>
              <a:t>14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719240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31722-2823-7F42-9C90-D4CED5AF427C}" type="slidenum">
              <a:rPr kumimoji="1" lang="ja-AU" altLang="en-US" smtClean="0"/>
              <a:t>23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97781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E140BB-4200-D9FA-F4C7-AA722BBFF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20362F-7F3F-1D51-F7A0-C527B408F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05C988-DEE3-E9AC-C4CE-1E7BCF64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2F5C66-E966-7B19-09D2-DA95B494F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0E3FA3-CF24-5C64-457C-B5597B46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21389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0ABC4-5900-927A-F094-B3EBAD63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9EE5F7-ED41-D011-B8C1-758CCBF41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E26717-61AA-DEE1-58E3-61168198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9889D-8425-ED4D-1BE6-1473823A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4CF4CF-4A46-83A6-AEC4-24B02106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878540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34ADEA-CC22-98F4-AA67-737DFA47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7DD49B-5621-CB6D-20B4-02C7E0901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F93197-ACDE-50E6-1A37-3DF7DC28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1967D-96E9-F620-B32B-106E72FA3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E6E6E-6A32-B69F-AED4-23D09EA0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89007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4D7FA-FF4C-1C15-56DC-9F25FEBE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9A9A39-016B-C562-672C-7F65794FB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B46B16-6D2D-D327-8710-5701BEB5D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3E3AFE-1B78-C97D-25B0-F07F7676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14319F-1D97-DF55-B372-9B27F3C5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F25C43-86B0-019E-5427-186357BF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20713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D72DA7-67A8-09E4-3F0D-693B7384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7AD27A-359F-EA16-AF80-030C33B88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393140-9908-D240-8A20-09320BF25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D83938F-027A-3C7E-304D-16007B30F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C9BD61-C737-9331-06B9-E7E70709C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E8C268-A75F-4560-A4A4-85A65C33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4CAD35-4C6D-C12F-A871-D7EDD18A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785820-1F14-8825-48AB-84600F69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06525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4518F8-8CC5-EA6A-AEFC-9D816679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CF6CB4-F828-2B34-03FD-1C97BFC6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683CDA-EF31-4904-9BE5-B04A5A58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CF44E3-D099-C4F9-ACCC-8BAE7132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00831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DF4BD9-709B-8616-D6B7-7E0414CE4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1DBF66-9399-C73A-5C37-83C532A9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E93F9B-2971-2D5C-7559-321DEADE1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54008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36A8D3-606E-6DAC-1E6D-0FC1C5FC5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C053C3-6178-2DA2-0BD6-81C068511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73DA55-1F60-3854-937B-3FB937F51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7FF8FA-A9ED-8BBD-1DB8-935DCEE4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D50819-F049-74FE-6934-EFA3F17A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479C98-2FD8-22A4-B478-9228B95C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18220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38998F-2986-44BE-CF8B-31EB12E96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BDB8CC5-5695-0326-A6A0-6404C7F3C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AU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D46221-4D05-A1A2-AE40-EAF21D8E7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E5775D-65E3-160F-AAB5-D800ECD6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C24CCD-9CCE-E42C-E571-F0BF755A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5FC8B8-2390-6494-D72A-58AC8498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2230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9A3CB6-5E25-A96F-D300-40D608C3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3E91A2-7AF5-29A2-F634-7CA808B5A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7208AA-B126-F77D-71FF-4EB70145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F41AE4-BE29-52F4-178A-FE88D7BB2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BC2EB8-1E9C-8EC7-6EF6-EF51112A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172542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39B1533-8799-B0F3-6B89-F5F0E8914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6256BD-BC18-9B54-F209-03CBE51DB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05423C-1FBE-DED3-C20C-8C3A9109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4DFE5C-B3FA-1032-C48C-0FAD5FD9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06028-3440-A55A-8B4D-32561DBB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420872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22001B-7A31-9867-AAA9-D58F6F9D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AU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8374AC-B541-E965-477C-63E33B829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AU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F4F755-B18D-A723-5449-094044B74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9A8C0-A5AD-4442-B430-971EB7268DA9}" type="datetimeFigureOut">
              <a:rPr kumimoji="1" lang="ja-AU" altLang="en-US" smtClean="0"/>
              <a:t>17/7/2024</a:t>
            </a:fld>
            <a:endParaRPr kumimoji="1" lang="ja-AU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F781DB-DB5F-B567-954B-AC4099A23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AU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376A4A-3FA5-8473-4B45-7470D19AC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6F59A-0BF5-AB48-B116-1436FF426CF8}" type="slidenum">
              <a:rPr kumimoji="1" lang="ja-AU" altLang="en-US" smtClean="0"/>
              <a:t>‹#›</a:t>
            </a:fld>
            <a:endParaRPr kumimoji="1" lang="ja-AU" altLang="en-US"/>
          </a:p>
        </p:txBody>
      </p:sp>
    </p:spTree>
    <p:extLst>
      <p:ext uri="{BB962C8B-B14F-4D97-AF65-F5344CB8AC3E}">
        <p14:creationId xmlns:p14="http://schemas.microsoft.com/office/powerpoint/2010/main" val="319878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A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omepythonguy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eromeLefebvre/DuckDB-Era5-Transmissi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jpe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9D2EC2-F979-4AB6-DDC1-6671E683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Jerome Lefebvre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163C0F-65C5-DEBD-D208-FD9ADC56A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AU" dirty="0"/>
              <a:t>Manager @ Aurecon within Asset Management Performance</a:t>
            </a:r>
          </a:p>
          <a:p>
            <a:pPr lvl="1"/>
            <a:r>
              <a:rPr kumimoji="1" lang="en-US" altLang="ja-AU" dirty="0"/>
              <a:t>This talk is inspired by work at Aurecon but not done as part of Aurecon</a:t>
            </a:r>
          </a:p>
          <a:p>
            <a:r>
              <a:rPr kumimoji="1" lang="en-US" altLang="ja-AU" dirty="0"/>
              <a:t>Last 10 years</a:t>
            </a:r>
          </a:p>
          <a:p>
            <a:pPr lvl="1"/>
            <a:r>
              <a:rPr kumimoji="1" lang="en-US" altLang="ja-AU" dirty="0"/>
              <a:t>Helping companies gain operational efficiencies using real-time data</a:t>
            </a:r>
          </a:p>
          <a:p>
            <a:r>
              <a:rPr kumimoji="1" lang="en-US" altLang="ja-AU" dirty="0"/>
              <a:t>Python credentials:</a:t>
            </a:r>
          </a:p>
          <a:p>
            <a:pPr lvl="1"/>
            <a:r>
              <a:rPr kumimoji="1" lang="en-US" altLang="ja-AU" dirty="0"/>
              <a:t>Aspirational (rocking </a:t>
            </a:r>
            <a:r>
              <a:rPr kumimoji="1" lang="en-US" altLang="ja-AU" dirty="0">
                <a:hlinkClick r:id="rId3"/>
              </a:rPr>
              <a:t>somepythonguy@gmail.com</a:t>
            </a:r>
            <a:r>
              <a:rPr kumimoji="1" lang="en-US" altLang="ja-AU" dirty="0"/>
              <a:t> since 2005)</a:t>
            </a:r>
          </a:p>
          <a:p>
            <a:pPr lvl="1"/>
            <a:r>
              <a:rPr kumimoji="1" lang="en-US" altLang="ja-AU" dirty="0">
                <a:hlinkClick r:id="rId4"/>
              </a:rPr>
              <a:t>https://</a:t>
            </a:r>
            <a:r>
              <a:rPr kumimoji="1" lang="en-US" altLang="ja-AU" dirty="0" err="1">
                <a:hlinkClick r:id="rId4"/>
              </a:rPr>
              <a:t>github.com</a:t>
            </a:r>
            <a:r>
              <a:rPr kumimoji="1" lang="en-US" altLang="ja-AU" dirty="0">
                <a:hlinkClick r:id="rId4"/>
              </a:rPr>
              <a:t>/</a:t>
            </a:r>
            <a:r>
              <a:rPr kumimoji="1" lang="en-US" altLang="ja-AU" dirty="0" err="1">
                <a:hlinkClick r:id="rId4"/>
              </a:rPr>
              <a:t>JeromeLefebvre</a:t>
            </a:r>
            <a:r>
              <a:rPr kumimoji="1" lang="en-US" altLang="ja-AU" dirty="0">
                <a:hlinkClick r:id="rId4"/>
              </a:rPr>
              <a:t>/DuckDB-Era5-Transmission</a:t>
            </a:r>
            <a:endParaRPr kumimoji="1" lang="en-US" altLang="ja-AU" dirty="0"/>
          </a:p>
          <a:p>
            <a:r>
              <a:rPr kumimoji="1" lang="en-US" altLang="ja-AU" dirty="0"/>
              <a:t>Today:</a:t>
            </a:r>
          </a:p>
          <a:p>
            <a:pPr lvl="1"/>
            <a:r>
              <a:rPr kumimoji="1" lang="en-US" altLang="ja-AU" dirty="0"/>
              <a:t>Measuring the impact of weather on the electricity grid (using </a:t>
            </a:r>
            <a:r>
              <a:rPr kumimoji="1" lang="en-US" altLang="ja-AU" dirty="0" err="1"/>
              <a:t>DuckDB</a:t>
            </a:r>
            <a:r>
              <a:rPr kumimoji="1" lang="en-US" altLang="ja-AU" dirty="0"/>
              <a:t> and Python)</a:t>
            </a:r>
          </a:p>
          <a:p>
            <a:pPr lvl="1"/>
            <a:endParaRPr kumimoji="1" lang="en-US" altLang="ja-AU" dirty="0"/>
          </a:p>
        </p:txBody>
      </p:sp>
    </p:spTree>
    <p:extLst>
      <p:ext uri="{BB962C8B-B14F-4D97-AF65-F5344CB8AC3E}">
        <p14:creationId xmlns:p14="http://schemas.microsoft.com/office/powerpoint/2010/main" val="195104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64A78-85DD-276D-B8A6-5BB8D7A9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 WA energy future and the grid</a:t>
            </a:r>
            <a:endParaRPr kumimoji="1" lang="ja-AU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7AA339B-BB37-6A32-AF26-650BFE30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862844"/>
            <a:ext cx="7772400" cy="161279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43AA0D-C1AA-529F-DBD2-D5C0B905E9B4}"/>
              </a:ext>
            </a:extLst>
          </p:cNvPr>
          <p:cNvSpPr/>
          <p:nvPr/>
        </p:nvSpPr>
        <p:spPr>
          <a:xfrm flipV="1">
            <a:off x="5150224" y="2440639"/>
            <a:ext cx="89422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95A27C-25AD-A4D1-5862-28231982F839}"/>
              </a:ext>
            </a:extLst>
          </p:cNvPr>
          <p:cNvSpPr/>
          <p:nvPr/>
        </p:nvSpPr>
        <p:spPr>
          <a:xfrm flipV="1">
            <a:off x="6889376" y="2474257"/>
            <a:ext cx="127298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140463-D93E-9F12-0A9C-26C7CA83E536}"/>
              </a:ext>
            </a:extLst>
          </p:cNvPr>
          <p:cNvSpPr/>
          <p:nvPr/>
        </p:nvSpPr>
        <p:spPr>
          <a:xfrm flipV="1">
            <a:off x="3709148" y="2440639"/>
            <a:ext cx="894229" cy="389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4D75527-9215-85B2-E1D3-4DC16DF4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044" y="3749166"/>
            <a:ext cx="3904360" cy="252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AD231129-9A10-F3DE-BF3F-A429E78BADD1}"/>
              </a:ext>
            </a:extLst>
          </p:cNvPr>
          <p:cNvCxnSpPr>
            <a:stCxn id="7" idx="0"/>
            <a:endCxn id="2052" idx="0"/>
          </p:cNvCxnSpPr>
          <p:nvPr/>
        </p:nvCxnSpPr>
        <p:spPr>
          <a:xfrm>
            <a:off x="4156263" y="2830604"/>
            <a:ext cx="993961" cy="918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EC91785-3C0E-401C-8B61-6AF30213C6B1}"/>
              </a:ext>
            </a:extLst>
          </p:cNvPr>
          <p:cNvSpPr txBox="1"/>
          <p:nvPr/>
        </p:nvSpPr>
        <p:spPr>
          <a:xfrm>
            <a:off x="7351264" y="4993925"/>
            <a:ext cx="39020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Transmission lines are hard: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There is a backlog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AU" altLang="ja-AU" dirty="0">
                <a:solidFill>
                  <a:srgbClr val="000000"/>
                </a:solidFill>
                <a:latin typeface="-webkit-standard"/>
              </a:rPr>
              <a:t>Costly</a:t>
            </a:r>
            <a:endParaRPr kumimoji="1" lang="en-US" altLang="ja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Our </a:t>
            </a:r>
            <a:r>
              <a:rPr kumimoji="1" lang="en-US" altLang="ja-AU" dirty="0" err="1"/>
              <a:t>favourite</a:t>
            </a:r>
            <a:r>
              <a:rPr kumimoji="1" lang="en-US" altLang="ja-AU" dirty="0"/>
              <a:t> pastime is </a:t>
            </a:r>
            <a:r>
              <a:rPr lang="en-AU" altLang="ja-AU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NIMBYsm</a:t>
            </a:r>
            <a:endParaRPr lang="en-AU" altLang="ja-AU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B0E45FD-9637-9EB8-39CF-542E57CB7CAD}"/>
              </a:ext>
            </a:extLst>
          </p:cNvPr>
          <p:cNvSpPr txBox="1"/>
          <p:nvPr/>
        </p:nvSpPr>
        <p:spPr>
          <a:xfrm>
            <a:off x="7351264" y="3289885"/>
            <a:ext cx="4013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AU" dirty="0"/>
              <a:t>WA Energy transmission: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Batteries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Lots of hope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411892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9B1E6F-86D9-1BB3-5E29-AAC24DF2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Weather's impact on transmission lines: SAG </a:t>
            </a:r>
            <a:endParaRPr kumimoji="1" lang="ja-AU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178AA7-5A77-6BBB-3255-0BBA4CC86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22508"/>
            <a:ext cx="10273564" cy="383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F8124C-ABF7-FF5B-E289-8D5EA4298690}"/>
              </a:ext>
            </a:extLst>
          </p:cNvPr>
          <p:cNvSpPr txBox="1"/>
          <p:nvPr/>
        </p:nvSpPr>
        <p:spPr>
          <a:xfrm>
            <a:off x="3151147" y="3542315"/>
            <a:ext cx="10938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rgbClr val="FFC000"/>
                </a:solidFill>
              </a:rPr>
              <a:t>Risk: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Fires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>
                <a:solidFill>
                  <a:srgbClr val="FFC000"/>
                </a:solidFill>
              </a:rPr>
              <a:t>Safety</a:t>
            </a:r>
            <a:endParaRPr kumimoji="1" lang="ja-AU" altLang="en-US" dirty="0">
              <a:solidFill>
                <a:srgbClr val="FFC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6CFA2A-6CAD-321F-4E68-9B8738EAA4E0}"/>
              </a:ext>
            </a:extLst>
          </p:cNvPr>
          <p:cNvSpPr txBox="1"/>
          <p:nvPr/>
        </p:nvSpPr>
        <p:spPr>
          <a:xfrm>
            <a:off x="3698060" y="5850542"/>
            <a:ext cx="5211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AU" dirty="0"/>
              <a:t>There is also a loss of operational efficiency as sag leads to less capacity of the grid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46686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6776902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26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4637697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91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6029637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48F429-96CC-C5AC-7575-EA089613FC8E}"/>
              </a:ext>
            </a:extLst>
          </p:cNvPr>
          <p:cNvSpPr txBox="1"/>
          <p:nvPr/>
        </p:nvSpPr>
        <p:spPr>
          <a:xfrm>
            <a:off x="8594946" y="4164068"/>
            <a:ext cx="2325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Loss: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Low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0F9C5D5C-DB8F-56EF-8ED4-03F307714B0D}"/>
              </a:ext>
            </a:extLst>
          </p:cNvPr>
          <p:cNvSpPr/>
          <p:nvPr/>
        </p:nvSpPr>
        <p:spPr>
          <a:xfrm rot="18114312">
            <a:off x="7968895" y="3908137"/>
            <a:ext cx="639271" cy="69405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093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F71247F-DA32-2987-DF25-6E14578699C9}"/>
              </a:ext>
            </a:extLst>
          </p:cNvPr>
          <p:cNvSpPr/>
          <p:nvPr/>
        </p:nvSpPr>
        <p:spPr>
          <a:xfrm>
            <a:off x="948679" y="3076660"/>
            <a:ext cx="5076533" cy="9095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0A49FA-F01F-A9C8-9D71-632451C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Thermal Capacity</a:t>
            </a:r>
            <a:endParaRPr kumimoji="1" lang="ja-AU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BC2386-57A1-0B49-F623-69A62840A1DB}"/>
              </a:ext>
            </a:extLst>
          </p:cNvPr>
          <p:cNvSpPr/>
          <p:nvPr/>
        </p:nvSpPr>
        <p:spPr>
          <a:xfrm>
            <a:off x="838200" y="3018330"/>
            <a:ext cx="6986798" cy="10519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4F29F6-4A16-AFEC-360B-AB2E490E97DD}"/>
              </a:ext>
            </a:extLst>
          </p:cNvPr>
          <p:cNvSpPr txBox="1"/>
          <p:nvPr/>
        </p:nvSpPr>
        <p:spPr>
          <a:xfrm>
            <a:off x="8594946" y="1930133"/>
            <a:ext cx="2374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Gain: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High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Solar irradiance</a:t>
            </a:r>
            <a:endParaRPr kumimoji="1" lang="ja-AU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48F429-96CC-C5AC-7575-EA089613FC8E}"/>
              </a:ext>
            </a:extLst>
          </p:cNvPr>
          <p:cNvSpPr txBox="1"/>
          <p:nvPr/>
        </p:nvSpPr>
        <p:spPr>
          <a:xfrm>
            <a:off x="8594946" y="4164068"/>
            <a:ext cx="2325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Heat Loss: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Low ambient temp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Wind</a:t>
            </a:r>
            <a:endParaRPr kumimoji="1" lang="ja-AU" altLang="en-US" dirty="0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8EA817E-E133-78B8-4DC5-01F95DD03DB7}"/>
              </a:ext>
            </a:extLst>
          </p:cNvPr>
          <p:cNvSpPr/>
          <p:nvPr/>
        </p:nvSpPr>
        <p:spPr>
          <a:xfrm rot="3813039">
            <a:off x="7958434" y="2330115"/>
            <a:ext cx="639271" cy="6940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0F9C5D5C-DB8F-56EF-8ED4-03F307714B0D}"/>
              </a:ext>
            </a:extLst>
          </p:cNvPr>
          <p:cNvSpPr/>
          <p:nvPr/>
        </p:nvSpPr>
        <p:spPr>
          <a:xfrm rot="18114312">
            <a:off x="7968895" y="3908137"/>
            <a:ext cx="639271" cy="694056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C8E3DF-7A44-F8BC-A106-5CCA2A6A0728}"/>
              </a:ext>
            </a:extLst>
          </p:cNvPr>
          <p:cNvSpPr txBox="1"/>
          <p:nvPr/>
        </p:nvSpPr>
        <p:spPr>
          <a:xfrm>
            <a:off x="3195591" y="2391798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Maximal Thermal Capacity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0ACCC8A-4318-F181-9605-DB9E06EEFACA}"/>
              </a:ext>
            </a:extLst>
          </p:cNvPr>
          <p:cNvSpPr txBox="1"/>
          <p:nvPr/>
        </p:nvSpPr>
        <p:spPr>
          <a:xfrm>
            <a:off x="1240547" y="3346750"/>
            <a:ext cx="317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>
                <a:solidFill>
                  <a:schemeClr val="bg1"/>
                </a:solidFill>
              </a:rPr>
              <a:t>Net Current Carrying Capacity</a:t>
            </a:r>
            <a:endParaRPr kumimoji="1" lang="ja-AU" altLang="en-US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5BB3EE4-D89A-4A91-8B9C-517EF63E22CA}"/>
              </a:ext>
            </a:extLst>
          </p:cNvPr>
          <p:cNvSpPr txBox="1"/>
          <p:nvPr/>
        </p:nvSpPr>
        <p:spPr>
          <a:xfrm>
            <a:off x="2217218" y="4709921"/>
            <a:ext cx="143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Static Rating</a:t>
            </a:r>
            <a:endParaRPr kumimoji="1" lang="ja-AU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A1E4D02-67A4-DB3E-B28E-8A2A63B52CBC}"/>
              </a:ext>
            </a:extLst>
          </p:cNvPr>
          <p:cNvSpPr txBox="1"/>
          <p:nvPr/>
        </p:nvSpPr>
        <p:spPr>
          <a:xfrm>
            <a:off x="5715287" y="4727201"/>
            <a:ext cx="2010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Potential Capacity</a:t>
            </a:r>
            <a:endParaRPr kumimoji="1" lang="ja-AU" altLang="en-US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B810AAF-649E-E930-D81B-34457EC0FF59}"/>
              </a:ext>
            </a:extLst>
          </p:cNvPr>
          <p:cNvCxnSpPr>
            <a:cxnSpLocks/>
          </p:cNvCxnSpPr>
          <p:nvPr/>
        </p:nvCxnSpPr>
        <p:spPr>
          <a:xfrm>
            <a:off x="838200" y="4491080"/>
            <a:ext cx="4777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EF229AB-6C0E-A18D-17FE-12ABB2ABF08B}"/>
              </a:ext>
            </a:extLst>
          </p:cNvPr>
          <p:cNvCxnSpPr>
            <a:cxnSpLocks/>
          </p:cNvCxnSpPr>
          <p:nvPr/>
        </p:nvCxnSpPr>
        <p:spPr>
          <a:xfrm>
            <a:off x="5615872" y="4491080"/>
            <a:ext cx="22091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A9D9C26-AE5F-A61E-B7EB-F5199167AA42}"/>
              </a:ext>
            </a:extLst>
          </p:cNvPr>
          <p:cNvCxnSpPr>
            <a:cxnSpLocks/>
          </p:cNvCxnSpPr>
          <p:nvPr/>
        </p:nvCxnSpPr>
        <p:spPr>
          <a:xfrm>
            <a:off x="838200" y="2759782"/>
            <a:ext cx="69867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5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2DD28B-9B84-464C-A79D-F02FF028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A966449-24B9-FECF-6E98-09A7C9D52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410" y="179593"/>
            <a:ext cx="10329616" cy="6478836"/>
          </a:xfrm>
          <a:prstGeom prst="rect">
            <a:avLst/>
          </a:prstGeom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7C9ADDE5-72AE-2812-DF15-0B2634B4B897}"/>
              </a:ext>
            </a:extLst>
          </p:cNvPr>
          <p:cNvSpPr/>
          <p:nvPr/>
        </p:nvSpPr>
        <p:spPr>
          <a:xfrm>
            <a:off x="82826" y="4161528"/>
            <a:ext cx="1669774" cy="1060174"/>
          </a:xfrm>
          <a:prstGeom prst="rightArrow">
            <a:avLst>
              <a:gd name="adj1" fmla="val 50000"/>
              <a:gd name="adj2" fmla="val 362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AU" dirty="0"/>
              <a:t>Static Capacity</a:t>
            </a:r>
          </a:p>
        </p:txBody>
      </p:sp>
    </p:spTree>
    <p:extLst>
      <p:ext uri="{BB962C8B-B14F-4D97-AF65-F5344CB8AC3E}">
        <p14:creationId xmlns:p14="http://schemas.microsoft.com/office/powerpoint/2010/main" val="402930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264A3C-4E60-C58F-B840-9FB670C8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Approach: Attach sensors all over the place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AB4FEA4-EB49-C3BF-D9FF-4D0ED4AF2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413" y="1825625"/>
            <a:ext cx="93271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6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B13D518-0F4C-FA38-EDF4-FEACD728F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3" y="1610163"/>
            <a:ext cx="6673130" cy="260477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B18D064-F67A-8467-E04E-8303832A2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66" y="2935726"/>
            <a:ext cx="6801928" cy="371911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9604605-42D0-7020-FAEB-3B416B3A7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ja-AU" dirty="0"/>
              <a:t>Approach: Simulate the weather loss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1934601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8">
            <a:extLst>
              <a:ext uri="{FF2B5EF4-FFF2-40B4-BE49-F238E27FC236}">
                <a16:creationId xmlns:a16="http://schemas.microsoft.com/office/drawing/2014/main" id="{23A4B00A-A57F-0DB5-3EAE-7013F8862A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AU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D4600FF-6A2A-EE3D-FDBD-DEEEF565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022" y="973946"/>
            <a:ext cx="7593496" cy="531544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2C4B339-2FC3-8685-AC28-11EE166C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5" y="1206238"/>
            <a:ext cx="1093055" cy="459639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4A4C659-1C31-08F4-8257-02F912D6D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530" y="244319"/>
            <a:ext cx="1941443" cy="794652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B9D59B1-A76A-12AC-D139-5B1719B35B49}"/>
              </a:ext>
            </a:extLst>
          </p:cNvPr>
          <p:cNvSpPr txBox="1"/>
          <p:nvPr/>
        </p:nvSpPr>
        <p:spPr>
          <a:xfrm>
            <a:off x="245731" y="366135"/>
            <a:ext cx="9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3600" dirty="0">
                <a:solidFill>
                  <a:schemeClr val="accent6"/>
                </a:solidFill>
              </a:rPr>
              <a:t>$$$</a:t>
            </a:r>
            <a:endParaRPr kumimoji="1" lang="ja-AU" altLang="en-US" dirty="0">
              <a:solidFill>
                <a:schemeClr val="accent6"/>
              </a:solidFill>
            </a:endParaRPr>
          </a:p>
        </p:txBody>
      </p:sp>
      <p:pic>
        <p:nvPicPr>
          <p:cNvPr id="18" name="グラフィックス 17" descr="プログラマー女性 単色塗りつぶし">
            <a:extLst>
              <a:ext uri="{FF2B5EF4-FFF2-40B4-BE49-F238E27FC236}">
                <a16:creationId xmlns:a16="http://schemas.microsoft.com/office/drawing/2014/main" id="{A4D1B2D5-99BB-2CD7-F29E-C45AD65142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015" y="1665877"/>
            <a:ext cx="914400" cy="9144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A92E2D23-1941-D9A2-6541-E9B4CEA3E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078" y="5221357"/>
            <a:ext cx="496239" cy="568607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F2919820-4F46-D318-F8FF-F30D675D3D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6507" y="5999490"/>
            <a:ext cx="794470" cy="79129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DAF924BA-E45D-3EA7-A612-CF94E77BBF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6801" y="5733199"/>
            <a:ext cx="794470" cy="610813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B5A6D02F-FC74-BFED-9B90-351F28C97A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8151" y="4617549"/>
            <a:ext cx="851452" cy="851452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9A30FF9-4D57-ABA4-7AB9-F7A71E956952}"/>
              </a:ext>
            </a:extLst>
          </p:cNvPr>
          <p:cNvSpPr txBox="1"/>
          <p:nvPr/>
        </p:nvSpPr>
        <p:spPr>
          <a:xfrm rot="1013693">
            <a:off x="8324749" y="1051336"/>
            <a:ext cx="27675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4400" dirty="0"/>
              <a:t>A fair fight!</a:t>
            </a:r>
          </a:p>
        </p:txBody>
      </p:sp>
    </p:spTree>
    <p:extLst>
      <p:ext uri="{BB962C8B-B14F-4D97-AF65-F5344CB8AC3E}">
        <p14:creationId xmlns:p14="http://schemas.microsoft.com/office/powerpoint/2010/main" val="120955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749D2-251B-C872-BB07-213DD277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Needs Three ingredients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7139A7-61E7-5B75-4EAE-3D24801D0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AU" dirty="0"/>
              <a:t>Calculating the impact of weather on transmission lines</a:t>
            </a:r>
          </a:p>
          <a:p>
            <a:r>
              <a:rPr kumimoji="1" lang="en-US" altLang="ja-AU" dirty="0"/>
              <a:t>Transmissions lines</a:t>
            </a:r>
          </a:p>
          <a:p>
            <a:r>
              <a:rPr kumimoji="1" lang="en-US" altLang="ja-AU" dirty="0"/>
              <a:t>Weather Data</a:t>
            </a:r>
          </a:p>
          <a:p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701501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F550DFEE-0740-B239-708B-3014A7E0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AU" dirty="0"/>
              <a:t>Calculations</a:t>
            </a:r>
            <a:endParaRPr lang="ja-AU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04AC0FD-317E-1C55-8EB4-77B4FE4B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26" y="1816894"/>
            <a:ext cx="7264400" cy="43688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491F328-64ED-723B-F03B-9C2DBCB70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292" y="159025"/>
            <a:ext cx="4905333" cy="5514561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299D2AA2-7FDA-2CDF-7D53-08BC30DD4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507" y="5999490"/>
            <a:ext cx="794470" cy="79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27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1F84E-0A1E-38EC-9A6E-E985CC2F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AU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2496F9C-5AD6-4DD6-1A6C-7EA0D886A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18502" y="1027906"/>
            <a:ext cx="4704457" cy="435133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2DC1E42-85AF-6CBD-E8E3-4CD4150B9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963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D9F13B-676A-6384-87A0-B6F0B818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The transmission data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D30D0DF-B973-873D-822B-F09571CA2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53909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0494CC-CA4D-7E86-726E-87CD9F06FB22}"/>
              </a:ext>
            </a:extLst>
          </p:cNvPr>
          <p:cNvSpPr txBox="1"/>
          <p:nvPr/>
        </p:nvSpPr>
        <p:spPr>
          <a:xfrm>
            <a:off x="4923182" y="5890247"/>
            <a:ext cx="176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Geospatial data</a:t>
            </a:r>
            <a:endParaRPr kumimoji="1" lang="ja-AU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E6DCACC-AD4E-5B54-4B84-7A93A5E70581}"/>
              </a:ext>
            </a:extLst>
          </p:cNvPr>
          <p:cNvCxnSpPr/>
          <p:nvPr/>
        </p:nvCxnSpPr>
        <p:spPr>
          <a:xfrm flipV="1">
            <a:off x="3763617" y="6215270"/>
            <a:ext cx="689113" cy="4622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CD85730-856C-130A-2AA7-5C9AD6A2A4ED}"/>
              </a:ext>
            </a:extLst>
          </p:cNvPr>
          <p:cNvCxnSpPr>
            <a:cxnSpLocks/>
          </p:cNvCxnSpPr>
          <p:nvPr/>
        </p:nvCxnSpPr>
        <p:spPr>
          <a:xfrm>
            <a:off x="4452730" y="6215270"/>
            <a:ext cx="940905" cy="277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B3F0F12-2C4B-466C-AD92-1BEF6C8C6175}"/>
              </a:ext>
            </a:extLst>
          </p:cNvPr>
          <p:cNvCxnSpPr>
            <a:cxnSpLocks/>
          </p:cNvCxnSpPr>
          <p:nvPr/>
        </p:nvCxnSpPr>
        <p:spPr>
          <a:xfrm>
            <a:off x="5393635" y="6492875"/>
            <a:ext cx="152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F0FA101-EAFD-6CD5-5AE6-5BD9DF0CBB72}"/>
              </a:ext>
            </a:extLst>
          </p:cNvPr>
          <p:cNvSpPr txBox="1"/>
          <p:nvPr/>
        </p:nvSpPr>
        <p:spPr>
          <a:xfrm>
            <a:off x="7076661" y="6135757"/>
            <a:ext cx="1366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Name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18281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F9767A-E655-FC0C-3E6F-DB5C662F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Where will new lines be built?</a:t>
            </a:r>
            <a:endParaRPr kumimoji="1" lang="ja-AU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8030B78-A0F7-FC52-6E2E-3E1F5EC23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7722"/>
            <a:ext cx="10515600" cy="27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27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B35B8-7905-D4AB-5231-ACC0BA74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What is BOM Data</a:t>
            </a:r>
            <a:endParaRPr kumimoji="1" lang="ja-AU" altLang="en-US" dirty="0"/>
          </a:p>
        </p:txBody>
      </p:sp>
      <p:pic>
        <p:nvPicPr>
          <p:cNvPr id="1026" name="Picture 2" descr="Mt Barker 2015">
            <a:extLst>
              <a:ext uri="{FF2B5EF4-FFF2-40B4-BE49-F238E27FC236}">
                <a16:creationId xmlns:a16="http://schemas.microsoft.com/office/drawing/2014/main" id="{B89485BB-9B5C-5ECD-411C-7887328DF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15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4E70157-C687-1EFE-ED49-FB43F393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13" y="5167312"/>
            <a:ext cx="7772400" cy="1583603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472AC96-1E9D-C37D-1096-99A76271F861}"/>
              </a:ext>
            </a:extLst>
          </p:cNvPr>
          <p:cNvCxnSpPr/>
          <p:nvPr/>
        </p:nvCxnSpPr>
        <p:spPr>
          <a:xfrm>
            <a:off x="3923607" y="3607724"/>
            <a:ext cx="1695797" cy="227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図 2">
            <a:extLst>
              <a:ext uri="{FF2B5EF4-FFF2-40B4-BE49-F238E27FC236}">
                <a16:creationId xmlns:a16="http://schemas.microsoft.com/office/drawing/2014/main" id="{B905210A-9D66-154B-0FBA-4A0D2CC1B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322" y="275420"/>
            <a:ext cx="3800178" cy="4471147"/>
          </a:xfrm>
          <a:prstGeom prst="rect">
            <a:avLst/>
          </a:prstGeom>
        </p:spPr>
      </p:pic>
      <p:sp>
        <p:nvSpPr>
          <p:cNvPr id="5" name="円/楕円 4">
            <a:extLst>
              <a:ext uri="{FF2B5EF4-FFF2-40B4-BE49-F238E27FC236}">
                <a16:creationId xmlns:a16="http://schemas.microsoft.com/office/drawing/2014/main" id="{A4E66D5D-25C6-2FDD-4C8D-DADA9D47536D}"/>
              </a:ext>
            </a:extLst>
          </p:cNvPr>
          <p:cNvSpPr/>
          <p:nvPr/>
        </p:nvSpPr>
        <p:spPr>
          <a:xfrm>
            <a:off x="9614645" y="1490476"/>
            <a:ext cx="1196788" cy="123927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15531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B35B8-7905-D4AB-5231-ACC0BA74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What is BOM Data</a:t>
            </a:r>
            <a:endParaRPr kumimoji="1" lang="ja-AU" altLang="en-US" dirty="0"/>
          </a:p>
        </p:txBody>
      </p:sp>
      <p:pic>
        <p:nvPicPr>
          <p:cNvPr id="1026" name="Picture 2" descr="Mt Barker 2015">
            <a:extLst>
              <a:ext uri="{FF2B5EF4-FFF2-40B4-BE49-F238E27FC236}">
                <a16:creationId xmlns:a16="http://schemas.microsoft.com/office/drawing/2014/main" id="{B89485BB-9B5C-5ECD-411C-7887328DF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7150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4E70157-C687-1EFE-ED49-FB43F393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13" y="5167312"/>
            <a:ext cx="7772400" cy="1583603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472AC96-1E9D-C37D-1096-99A76271F861}"/>
              </a:ext>
            </a:extLst>
          </p:cNvPr>
          <p:cNvCxnSpPr/>
          <p:nvPr/>
        </p:nvCxnSpPr>
        <p:spPr>
          <a:xfrm>
            <a:off x="3923607" y="3607724"/>
            <a:ext cx="1695797" cy="227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65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875DD5F2-42D9-4773-1010-6D950A67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AU" dirty="0"/>
              <a:t>Let’s use simulated weather data</a:t>
            </a:r>
            <a:endParaRPr lang="ja-AU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45A54AB-5E1A-32A5-C929-9337AE5F8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39" y="1567929"/>
            <a:ext cx="7772400" cy="287400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927A611-EF89-84F1-A7B5-343C5A91827A}"/>
              </a:ext>
            </a:extLst>
          </p:cNvPr>
          <p:cNvSpPr txBox="1"/>
          <p:nvPr/>
        </p:nvSpPr>
        <p:spPr>
          <a:xfrm>
            <a:off x="9475304" y="4982817"/>
            <a:ext cx="1234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Add image</a:t>
            </a:r>
            <a:endParaRPr kumimoji="1" lang="ja-AU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26A107-8A20-DCD7-5005-05C1DCA00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529" y="3211231"/>
            <a:ext cx="5624167" cy="328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902364C2-EC72-D0A9-530F-2BD91D4EE726}"/>
              </a:ext>
            </a:extLst>
          </p:cNvPr>
          <p:cNvCxnSpPr/>
          <p:nvPr/>
        </p:nvCxnSpPr>
        <p:spPr>
          <a:xfrm>
            <a:off x="4893972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626D7AA-E212-98B4-4AC4-F2B2EE1FBDE2}"/>
              </a:ext>
            </a:extLst>
          </p:cNvPr>
          <p:cNvCxnSpPr/>
          <p:nvPr/>
        </p:nvCxnSpPr>
        <p:spPr>
          <a:xfrm>
            <a:off x="5059251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8E80F57-11A0-BBA7-4214-1024CD3AF9B7}"/>
              </a:ext>
            </a:extLst>
          </p:cNvPr>
          <p:cNvCxnSpPr>
            <a:cxnSpLocks/>
          </p:cNvCxnSpPr>
          <p:nvPr/>
        </p:nvCxnSpPr>
        <p:spPr>
          <a:xfrm>
            <a:off x="4584879" y="5434884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3E2DF05-94F2-42CD-3A30-83E61AD3BD73}"/>
              </a:ext>
            </a:extLst>
          </p:cNvPr>
          <p:cNvCxnSpPr>
            <a:cxnSpLocks/>
          </p:cNvCxnSpPr>
          <p:nvPr/>
        </p:nvCxnSpPr>
        <p:spPr>
          <a:xfrm>
            <a:off x="4584879" y="5574405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15D584A-481F-5154-81CC-A5E9CCEBA014}"/>
              </a:ext>
            </a:extLst>
          </p:cNvPr>
          <p:cNvCxnSpPr>
            <a:cxnSpLocks/>
          </p:cNvCxnSpPr>
          <p:nvPr/>
        </p:nvCxnSpPr>
        <p:spPr>
          <a:xfrm>
            <a:off x="4584879" y="5741831"/>
            <a:ext cx="8221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6773CFD-E36E-89DA-70B4-6DF992119FF4}"/>
              </a:ext>
            </a:extLst>
          </p:cNvPr>
          <p:cNvCxnSpPr/>
          <p:nvPr/>
        </p:nvCxnSpPr>
        <p:spPr>
          <a:xfrm>
            <a:off x="5198772" y="5228822"/>
            <a:ext cx="0" cy="1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20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34EC1ED6-B698-F40B-053D-426A1409B8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6" t="19031" r="5816" b="9695"/>
          <a:stretch/>
        </p:blipFill>
        <p:spPr>
          <a:xfrm>
            <a:off x="965200" y="1800225"/>
            <a:ext cx="6832600" cy="4280694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DDCD032-D70F-037D-9703-D84CD16C997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60425" y="2476500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BE48F45-CB84-47F2-EC60-9CEC3BC90636}"/>
              </a:ext>
            </a:extLst>
          </p:cNvPr>
          <p:cNvCxnSpPr>
            <a:cxnSpLocks/>
          </p:cNvCxnSpPr>
          <p:nvPr/>
        </p:nvCxnSpPr>
        <p:spPr>
          <a:xfrm>
            <a:off x="860425" y="3263900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BB82416-9597-32D5-65C4-7684A09C7872}"/>
              </a:ext>
            </a:extLst>
          </p:cNvPr>
          <p:cNvSpPr txBox="1"/>
          <p:nvPr/>
        </p:nvSpPr>
        <p:spPr>
          <a:xfrm>
            <a:off x="231727" y="229183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A7E20B6-D132-5939-F951-31F2B6D47352}"/>
              </a:ext>
            </a:extLst>
          </p:cNvPr>
          <p:cNvCxnSpPr>
            <a:cxnSpLocks/>
          </p:cNvCxnSpPr>
          <p:nvPr/>
        </p:nvCxnSpPr>
        <p:spPr>
          <a:xfrm>
            <a:off x="855661" y="3994944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481A4862-307F-311F-79AE-152F71451506}"/>
              </a:ext>
            </a:extLst>
          </p:cNvPr>
          <p:cNvCxnSpPr>
            <a:cxnSpLocks/>
          </p:cNvCxnSpPr>
          <p:nvPr/>
        </p:nvCxnSpPr>
        <p:spPr>
          <a:xfrm>
            <a:off x="855662" y="4715272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6D2D9EE-C619-A140-A2EF-A9D9BD79183A}"/>
              </a:ext>
            </a:extLst>
          </p:cNvPr>
          <p:cNvCxnSpPr>
            <a:cxnSpLocks/>
          </p:cNvCxnSpPr>
          <p:nvPr/>
        </p:nvCxnSpPr>
        <p:spPr>
          <a:xfrm>
            <a:off x="855660" y="5515372"/>
            <a:ext cx="70516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8036C78-0A44-F0AF-D0E9-8BAA9BFC82D5}"/>
              </a:ext>
            </a:extLst>
          </p:cNvPr>
          <p:cNvSpPr txBox="1"/>
          <p:nvPr/>
        </p:nvSpPr>
        <p:spPr>
          <a:xfrm>
            <a:off x="222202" y="307923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9A1B000-109F-4115-A088-9824F866F4F1}"/>
              </a:ext>
            </a:extLst>
          </p:cNvPr>
          <p:cNvSpPr txBox="1"/>
          <p:nvPr/>
        </p:nvSpPr>
        <p:spPr>
          <a:xfrm>
            <a:off x="193627" y="381027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BB976AF-0661-6E1D-E3CC-0C2DBC06449C}"/>
              </a:ext>
            </a:extLst>
          </p:cNvPr>
          <p:cNvSpPr txBox="1"/>
          <p:nvPr/>
        </p:nvSpPr>
        <p:spPr>
          <a:xfrm>
            <a:off x="190452" y="4530606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BFF334C-34BF-2F9D-3D8A-D004BB6A2704}"/>
              </a:ext>
            </a:extLst>
          </p:cNvPr>
          <p:cNvSpPr txBox="1"/>
          <p:nvPr/>
        </p:nvSpPr>
        <p:spPr>
          <a:xfrm>
            <a:off x="222202" y="5328722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8am</a:t>
            </a:r>
            <a:endParaRPr kumimoji="1" lang="ja-AU" altLang="en-US" dirty="0"/>
          </a:p>
        </p:txBody>
      </p:sp>
      <p:sp>
        <p:nvSpPr>
          <p:cNvPr id="27" name="右中かっこ 26">
            <a:extLst>
              <a:ext uri="{FF2B5EF4-FFF2-40B4-BE49-F238E27FC236}">
                <a16:creationId xmlns:a16="http://schemas.microsoft.com/office/drawing/2014/main" id="{99C2ABB9-2120-4025-938B-AB3E0F8AB7B6}"/>
              </a:ext>
            </a:extLst>
          </p:cNvPr>
          <p:cNvSpPr/>
          <p:nvPr/>
        </p:nvSpPr>
        <p:spPr>
          <a:xfrm>
            <a:off x="8050210" y="2248456"/>
            <a:ext cx="762000" cy="340622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AU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518C8F9-7A4E-FE2C-02F0-D11C8CA169DD}"/>
              </a:ext>
            </a:extLst>
          </p:cNvPr>
          <p:cNvSpPr txBox="1"/>
          <p:nvPr/>
        </p:nvSpPr>
        <p:spPr>
          <a:xfrm>
            <a:off x="9064620" y="3671778"/>
            <a:ext cx="2556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Average weather at 8am</a:t>
            </a:r>
          </a:p>
          <a:p>
            <a:r>
              <a:rPr kumimoji="1" lang="en-US" altLang="ja-AU" dirty="0"/>
              <a:t>On a January</a:t>
            </a:r>
            <a:endParaRPr kumimoji="1" lang="ja-AU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7AA564A-9794-F50C-7A8F-D28768133E7F}"/>
              </a:ext>
            </a:extLst>
          </p:cNvPr>
          <p:cNvSpPr txBox="1"/>
          <p:nvPr/>
        </p:nvSpPr>
        <p:spPr>
          <a:xfrm>
            <a:off x="1244600" y="1221860"/>
            <a:ext cx="2817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Year: 200*, month: January</a:t>
            </a:r>
            <a:endParaRPr kumimoji="1" lang="ja-AU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0D38359-F6A9-C2E2-896E-FA059C03CF8C}"/>
              </a:ext>
            </a:extLst>
          </p:cNvPr>
          <p:cNvSpPr txBox="1"/>
          <p:nvPr/>
        </p:nvSpPr>
        <p:spPr>
          <a:xfrm>
            <a:off x="546076" y="397273"/>
            <a:ext cx="2768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sz="2800" dirty="0"/>
              <a:t>Weather average</a:t>
            </a:r>
            <a:endParaRPr kumimoji="1" lang="ja-AU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27412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D92C04-A5AF-F6E8-54AD-EC87ECA7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29" y="-4207"/>
            <a:ext cx="10515600" cy="1325563"/>
          </a:xfrm>
        </p:spPr>
        <p:txBody>
          <a:bodyPr/>
          <a:lstStyle/>
          <a:p>
            <a:r>
              <a:rPr kumimoji="1" lang="en-US" altLang="ja-AU" dirty="0"/>
              <a:t>Queries</a:t>
            </a:r>
            <a:endParaRPr kumimoji="1" lang="ja-AU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2B4E66-1ECC-4E4D-2394-8A8B7B2646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9" r="-1194"/>
          <a:stretch/>
        </p:blipFill>
        <p:spPr>
          <a:xfrm>
            <a:off x="185530" y="1321356"/>
            <a:ext cx="6240294" cy="270730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338303-9851-5CEA-C572-A6DB323233C1}"/>
              </a:ext>
            </a:extLst>
          </p:cNvPr>
          <p:cNvSpPr txBox="1"/>
          <p:nvPr/>
        </p:nvSpPr>
        <p:spPr>
          <a:xfrm>
            <a:off x="185529" y="952024"/>
            <a:ext cx="6360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#1 Split the Western Power Grid into segment, add foreign keys</a:t>
            </a:r>
            <a:endParaRPr kumimoji="1" lang="ja-AU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62735A-BB44-A0B2-527D-BA70EA2BAECC}"/>
              </a:ext>
            </a:extLst>
          </p:cNvPr>
          <p:cNvSpPr txBox="1"/>
          <p:nvPr/>
        </p:nvSpPr>
        <p:spPr>
          <a:xfrm>
            <a:off x="7867646" y="289242"/>
            <a:ext cx="4138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 2 Apply some averages the to weather </a:t>
            </a:r>
            <a:endParaRPr kumimoji="1" lang="ja-AU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B581DF0-668A-AFA1-6A12-42A8DFC8B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737" y="816188"/>
            <a:ext cx="4764734" cy="260128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A8FD9F0-73ED-E160-352C-890F20DBF2E7}"/>
              </a:ext>
            </a:extLst>
          </p:cNvPr>
          <p:cNvSpPr txBox="1"/>
          <p:nvPr/>
        </p:nvSpPr>
        <p:spPr>
          <a:xfrm>
            <a:off x="278296" y="4213327"/>
            <a:ext cx="237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#3 Joining the data set</a:t>
            </a:r>
            <a:endParaRPr kumimoji="1" lang="ja-AU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B7870C8-52F5-52A0-E94C-103667E9E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38" y="4790771"/>
            <a:ext cx="5052391" cy="192110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AAEBAB-FEDD-AA6E-ADF1-D2650865855E}"/>
              </a:ext>
            </a:extLst>
          </p:cNvPr>
          <p:cNvSpPr txBox="1"/>
          <p:nvPr/>
        </p:nvSpPr>
        <p:spPr>
          <a:xfrm>
            <a:off x="6722207" y="3977065"/>
            <a:ext cx="4146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#4 Add in IEEE738 Calculations (python)</a:t>
            </a:r>
            <a:endParaRPr kumimoji="1" lang="ja-AU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16925E9-DF5F-00BE-02C4-5CD66E208761}"/>
              </a:ext>
            </a:extLst>
          </p:cNvPr>
          <p:cNvSpPr txBox="1"/>
          <p:nvPr/>
        </p:nvSpPr>
        <p:spPr>
          <a:xfrm>
            <a:off x="6850039" y="5009179"/>
            <a:ext cx="49510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Average 8 am in June-July power efficiency gain?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Should we ask this battery to only discharge at 5 pm?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AU" dirty="0"/>
              <a:t>Part of the grid most impacted by the extreme weather?</a:t>
            </a:r>
            <a:endParaRPr kumimoji="1" lang="ja-AU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9AD5FB-4DA5-D690-A619-FB0779E68307}"/>
              </a:ext>
            </a:extLst>
          </p:cNvPr>
          <p:cNvSpPr txBox="1"/>
          <p:nvPr/>
        </p:nvSpPr>
        <p:spPr>
          <a:xfrm>
            <a:off x="6850039" y="469443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#5, #6, #7, …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01871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15E89-5A45-5E0A-890A-E4D339D9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Data Flow</a:t>
            </a:r>
            <a:endParaRPr kumimoji="1" lang="ja-AU" altLang="en-US" dirty="0"/>
          </a:p>
        </p:txBody>
      </p:sp>
      <p:pic>
        <p:nvPicPr>
          <p:cNvPr id="6" name="グラフィックス 5" descr="紙 枠線">
            <a:extLst>
              <a:ext uri="{FF2B5EF4-FFF2-40B4-BE49-F238E27FC236}">
                <a16:creationId xmlns:a16="http://schemas.microsoft.com/office/drawing/2014/main" id="{CAB29A29-9585-1307-C854-2216F1F0D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50" y="4375597"/>
            <a:ext cx="914400" cy="914400"/>
          </a:xfrm>
          <a:prstGeom prst="rect">
            <a:avLst/>
          </a:prstGeom>
        </p:spPr>
      </p:pic>
      <p:pic>
        <p:nvPicPr>
          <p:cNvPr id="7" name="グラフィックス 6" descr="紙 枠線">
            <a:extLst>
              <a:ext uri="{FF2B5EF4-FFF2-40B4-BE49-F238E27FC236}">
                <a16:creationId xmlns:a16="http://schemas.microsoft.com/office/drawing/2014/main" id="{D7854E35-33BB-30BA-4B82-448AE8368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350" y="2025203"/>
            <a:ext cx="914400" cy="9144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AC1DB9-EF9D-80EA-BBAD-17D6354BB286}"/>
              </a:ext>
            </a:extLst>
          </p:cNvPr>
          <p:cNvSpPr txBox="1"/>
          <p:nvPr/>
        </p:nvSpPr>
        <p:spPr>
          <a:xfrm>
            <a:off x="907543" y="2939020"/>
            <a:ext cx="2306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Era5 or BOM Weather</a:t>
            </a:r>
          </a:p>
          <a:p>
            <a:r>
              <a:rPr kumimoji="1" lang="en-US" altLang="ja-AU" dirty="0"/>
              <a:t>.csv, .parquet, .</a:t>
            </a:r>
            <a:r>
              <a:rPr kumimoji="1" lang="en-US" altLang="ja-AU" dirty="0" err="1"/>
              <a:t>json</a:t>
            </a:r>
            <a:endParaRPr kumimoji="1" lang="ja-AU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222D98-F538-F005-22AE-B66B453AAD6E}"/>
              </a:ext>
            </a:extLst>
          </p:cNvPr>
          <p:cNvSpPr txBox="1"/>
          <p:nvPr/>
        </p:nvSpPr>
        <p:spPr>
          <a:xfrm>
            <a:off x="369003" y="5289997"/>
            <a:ext cx="346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Western Power </a:t>
            </a:r>
            <a:r>
              <a:rPr kumimoji="1" lang="en-US" altLang="ja-AU" dirty="0" err="1"/>
              <a:t>Transmission.shp</a:t>
            </a:r>
            <a:endParaRPr kumimoji="1" lang="ja-AU" altLang="en-US" dirty="0"/>
          </a:p>
        </p:txBody>
      </p:sp>
      <p:pic>
        <p:nvPicPr>
          <p:cNvPr id="15" name="グラフィックス 14" descr="プログラマー女性 枠線">
            <a:extLst>
              <a:ext uri="{FF2B5EF4-FFF2-40B4-BE49-F238E27FC236}">
                <a16:creationId xmlns:a16="http://schemas.microsoft.com/office/drawing/2014/main" id="{0123309B-008E-0289-56F1-F91F0DA19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3748" y="3166796"/>
            <a:ext cx="914400" cy="914400"/>
          </a:xfrm>
          <a:prstGeom prst="rect">
            <a:avLst/>
          </a:prstGeom>
        </p:spPr>
      </p:pic>
      <p:pic>
        <p:nvPicPr>
          <p:cNvPr id="19" name="グラフィックス 18" descr="蛇 枠線">
            <a:extLst>
              <a:ext uri="{FF2B5EF4-FFF2-40B4-BE49-F238E27FC236}">
                <a16:creationId xmlns:a16="http://schemas.microsoft.com/office/drawing/2014/main" id="{F8F73AEB-9F04-9BC7-4A2A-FDA86E5C68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4315" y="3166796"/>
            <a:ext cx="914400" cy="91440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CA23D5-91D8-132C-A155-37B08C20E1C0}"/>
              </a:ext>
            </a:extLst>
          </p:cNvPr>
          <p:cNvSpPr txBox="1"/>
          <p:nvPr/>
        </p:nvSpPr>
        <p:spPr>
          <a:xfrm>
            <a:off x="5092199" y="4081196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 err="1"/>
              <a:t>DuckDB</a:t>
            </a:r>
            <a:endParaRPr kumimoji="1" lang="ja-AU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0C81B59-B092-DE58-4EE7-DC406E67DCAB}"/>
              </a:ext>
            </a:extLst>
          </p:cNvPr>
          <p:cNvSpPr txBox="1"/>
          <p:nvPr/>
        </p:nvSpPr>
        <p:spPr>
          <a:xfrm>
            <a:off x="7124914" y="408119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Scripting</a:t>
            </a:r>
            <a:endParaRPr kumimoji="1" lang="ja-AU" altLang="en-US" dirty="0"/>
          </a:p>
        </p:txBody>
      </p:sp>
      <p:pic>
        <p:nvPicPr>
          <p:cNvPr id="26" name="グラフィックス 25" descr="ピン止めした地図 単色塗りつぶし">
            <a:extLst>
              <a:ext uri="{FF2B5EF4-FFF2-40B4-BE49-F238E27FC236}">
                <a16:creationId xmlns:a16="http://schemas.microsoft.com/office/drawing/2014/main" id="{09A9757C-1539-26B7-C0A5-41D79BF3B7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4882" y="3351462"/>
            <a:ext cx="914400" cy="914400"/>
          </a:xfrm>
          <a:prstGeom prst="rect">
            <a:avLst/>
          </a:prstGeom>
        </p:spPr>
      </p:pic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95FF660-66AB-EABA-F85B-1A5B2968808D}"/>
              </a:ext>
            </a:extLst>
          </p:cNvPr>
          <p:cNvCxnSpPr>
            <a:cxnSpLocks/>
          </p:cNvCxnSpPr>
          <p:nvPr/>
        </p:nvCxnSpPr>
        <p:spPr>
          <a:xfrm>
            <a:off x="2560750" y="2482403"/>
            <a:ext cx="2622998" cy="1141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F73069C-4957-B329-C8CA-958B04739633}"/>
              </a:ext>
            </a:extLst>
          </p:cNvPr>
          <p:cNvCxnSpPr>
            <a:cxnSpLocks/>
          </p:cNvCxnSpPr>
          <p:nvPr/>
        </p:nvCxnSpPr>
        <p:spPr>
          <a:xfrm flipV="1">
            <a:off x="2423899" y="3623996"/>
            <a:ext cx="2774060" cy="1283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3ABB4C2-1C3A-B0C9-C1CD-AD06148AE2ED}"/>
              </a:ext>
            </a:extLst>
          </p:cNvPr>
          <p:cNvCxnSpPr>
            <a:cxnSpLocks/>
          </p:cNvCxnSpPr>
          <p:nvPr/>
        </p:nvCxnSpPr>
        <p:spPr>
          <a:xfrm>
            <a:off x="5882366" y="3683093"/>
            <a:ext cx="1242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7291FC5-D07E-2BA3-6A12-3C4BF6FDDF0C}"/>
              </a:ext>
            </a:extLst>
          </p:cNvPr>
          <p:cNvCxnSpPr>
            <a:cxnSpLocks/>
          </p:cNvCxnSpPr>
          <p:nvPr/>
        </p:nvCxnSpPr>
        <p:spPr>
          <a:xfrm>
            <a:off x="8002334" y="3728978"/>
            <a:ext cx="1242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2267E92-AE4F-1D1C-90A6-5C5571C6D9BB}"/>
              </a:ext>
            </a:extLst>
          </p:cNvPr>
          <p:cNvSpPr txBox="1"/>
          <p:nvPr/>
        </p:nvSpPr>
        <p:spPr>
          <a:xfrm>
            <a:off x="5142906" y="4643378"/>
            <a:ext cx="794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Merge</a:t>
            </a:r>
            <a:endParaRPr kumimoji="1" lang="ja-AU" altLang="en-US" i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9B1E8F9-D880-C9AF-EC68-20D6199A9775}"/>
              </a:ext>
            </a:extLst>
          </p:cNvPr>
          <p:cNvSpPr txBox="1"/>
          <p:nvPr/>
        </p:nvSpPr>
        <p:spPr>
          <a:xfrm>
            <a:off x="1573368" y="1562332"/>
            <a:ext cx="81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Inputs</a:t>
            </a:r>
            <a:endParaRPr kumimoji="1" lang="ja-AU" altLang="en-US" i="1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A084736-1488-286A-D28B-14D5E0CE2B99}"/>
              </a:ext>
            </a:extLst>
          </p:cNvPr>
          <p:cNvSpPr txBox="1"/>
          <p:nvPr/>
        </p:nvSpPr>
        <p:spPr>
          <a:xfrm>
            <a:off x="7154697" y="472306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/>
              <a:t>Enrich</a:t>
            </a:r>
            <a:endParaRPr kumimoji="1" lang="ja-AU" altLang="en-US" i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F53D1D-D353-0ADA-CF06-B283B93694FF}"/>
              </a:ext>
            </a:extLst>
          </p:cNvPr>
          <p:cNvSpPr txBox="1"/>
          <p:nvPr/>
        </p:nvSpPr>
        <p:spPr>
          <a:xfrm>
            <a:off x="9244882" y="4723062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i="1" dirty="0" err="1"/>
              <a:t>Visualise</a:t>
            </a:r>
            <a:endParaRPr kumimoji="1" lang="ja-AU" altLang="en-US" i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C1300B-5064-60EB-358E-B4E2CE1F23FD}"/>
              </a:ext>
            </a:extLst>
          </p:cNvPr>
          <p:cNvSpPr txBox="1"/>
          <p:nvPr/>
        </p:nvSpPr>
        <p:spPr>
          <a:xfrm rot="1520431">
            <a:off x="2602995" y="1885060"/>
            <a:ext cx="1570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Query#1</a:t>
            </a:r>
          </a:p>
          <a:p>
            <a:r>
              <a:rPr kumimoji="1" lang="en-US" altLang="ja-AU" dirty="0"/>
              <a:t>Calculate averages</a:t>
            </a:r>
            <a:endParaRPr kumimoji="1" lang="ja-AU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D66F30-181D-A612-7677-23E7B90BCC5C}"/>
              </a:ext>
            </a:extLst>
          </p:cNvPr>
          <p:cNvSpPr txBox="1"/>
          <p:nvPr/>
        </p:nvSpPr>
        <p:spPr>
          <a:xfrm>
            <a:off x="5163108" y="2225225"/>
            <a:ext cx="1057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Query#3</a:t>
            </a:r>
          </a:p>
          <a:p>
            <a:r>
              <a:rPr kumimoji="1" lang="en-US" altLang="ja-AU" dirty="0"/>
              <a:t>Join the inputs</a:t>
            </a:r>
            <a:endParaRPr kumimoji="1" lang="ja-AU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77A426-703A-2BD9-33D6-7A361243CDCA}"/>
              </a:ext>
            </a:extLst>
          </p:cNvPr>
          <p:cNvSpPr txBox="1"/>
          <p:nvPr/>
        </p:nvSpPr>
        <p:spPr>
          <a:xfrm rot="20171209">
            <a:off x="2276580" y="3659835"/>
            <a:ext cx="1570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Query#2 Decompose into spans</a:t>
            </a:r>
            <a:endParaRPr kumimoji="1" lang="ja-AU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A26FB57-2C0A-D5E8-ED69-C8B7560F1727}"/>
              </a:ext>
            </a:extLst>
          </p:cNvPr>
          <p:cNvSpPr txBox="1"/>
          <p:nvPr/>
        </p:nvSpPr>
        <p:spPr>
          <a:xfrm>
            <a:off x="7128845" y="2252458"/>
            <a:ext cx="1057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AU" dirty="0"/>
              <a:t>Query#4</a:t>
            </a:r>
          </a:p>
          <a:p>
            <a:r>
              <a:rPr kumimoji="1" lang="en-US" altLang="ja-AU" dirty="0"/>
              <a:t>Apply model</a:t>
            </a:r>
            <a:endParaRPr kumimoji="1" lang="ja-AU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AB7475B-67F9-5509-121D-03F1979951D6}"/>
              </a:ext>
            </a:extLst>
          </p:cNvPr>
          <p:cNvSpPr txBox="1"/>
          <p:nvPr/>
        </p:nvSpPr>
        <p:spPr>
          <a:xfrm>
            <a:off x="9515061" y="2372139"/>
            <a:ext cx="19037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Query #5, #6, #7</a:t>
            </a:r>
          </a:p>
          <a:p>
            <a:endParaRPr kumimoji="1" lang="en-US" altLang="ja-AU" dirty="0"/>
          </a:p>
          <a:p>
            <a:r>
              <a:rPr kumimoji="1" lang="en-US" altLang="ja-AU" dirty="0"/>
              <a:t>What about this?</a:t>
            </a:r>
          </a:p>
          <a:p>
            <a:r>
              <a:rPr kumimoji="1" lang="en-US" altLang="ja-AU" dirty="0"/>
              <a:t>What about that?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E79DD8-49E6-753F-C66C-98094577E584}"/>
              </a:ext>
            </a:extLst>
          </p:cNvPr>
          <p:cNvSpPr txBox="1"/>
          <p:nvPr/>
        </p:nvSpPr>
        <p:spPr>
          <a:xfrm>
            <a:off x="9070428" y="4118805"/>
            <a:ext cx="2495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AU" dirty="0"/>
              <a:t>Power BI/Excel,</a:t>
            </a:r>
          </a:p>
          <a:p>
            <a:r>
              <a:rPr kumimoji="1" lang="en-US" altLang="ja-AU" dirty="0"/>
              <a:t>QGIS, Grafana, </a:t>
            </a:r>
            <a:r>
              <a:rPr kumimoji="1" lang="en-US" altLang="ja-AU" dirty="0" err="1"/>
              <a:t>qStudio</a:t>
            </a:r>
            <a:endParaRPr kumimoji="1" lang="ja-AU" altLang="en-US" dirty="0"/>
          </a:p>
        </p:txBody>
      </p:sp>
    </p:spTree>
    <p:extLst>
      <p:ext uri="{BB962C8B-B14F-4D97-AF65-F5344CB8AC3E}">
        <p14:creationId xmlns:p14="http://schemas.microsoft.com/office/powerpoint/2010/main" val="360122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D30671-6336-C3B0-AA3C-F53431A2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 dirty="0"/>
              <a:t>Other use cases</a:t>
            </a:r>
            <a:endParaRPr kumimoji="1" lang="ja-AU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C49D7A-2131-AD81-A0F7-DDCDE085B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AU" dirty="0"/>
              <a:t>Run cloud work back on local machine</a:t>
            </a:r>
          </a:p>
          <a:p>
            <a:r>
              <a:rPr kumimoji="1" lang="en-US" altLang="ja-AU" dirty="0"/>
              <a:t>Clean-up data sets</a:t>
            </a:r>
          </a:p>
          <a:p>
            <a:r>
              <a:rPr kumimoji="1" lang="en-US" altLang="ja-AU" dirty="0"/>
              <a:t>ETL (data pipe)</a:t>
            </a:r>
          </a:p>
          <a:p>
            <a:r>
              <a:rPr kumimoji="1" lang="en-US" altLang="ja-AU" dirty="0"/>
              <a:t>Geospatial analyses</a:t>
            </a:r>
          </a:p>
          <a:p>
            <a:r>
              <a:rPr kumimoji="1" lang="en-US" altLang="ja-AU" dirty="0"/>
              <a:t>Reports on flat data</a:t>
            </a:r>
          </a:p>
          <a:p>
            <a:r>
              <a:rPr kumimoji="1" lang="en-US" altLang="ja-AU" dirty="0"/>
              <a:t>Ad-hoc queries on large data set</a:t>
            </a:r>
          </a:p>
        </p:txBody>
      </p:sp>
    </p:spTree>
    <p:extLst>
      <p:ext uri="{BB962C8B-B14F-4D97-AF65-F5344CB8AC3E}">
        <p14:creationId xmlns:p14="http://schemas.microsoft.com/office/powerpoint/2010/main" val="315453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CA3EDC-B145-7CC8-73F9-58EE380B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AU"/>
              <a:t>Compare sizes</a:t>
            </a:r>
            <a:endParaRPr kumimoji="1" lang="ja-AU" altLang="en-US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2B9623AE-F5F6-16EB-8AD1-3CA025725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297078" y="1571973"/>
            <a:ext cx="17502515" cy="25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41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9050</TotalTime>
  <Words>506</Words>
  <Application>Microsoft Macintosh PowerPoint</Application>
  <PresentationFormat>ワイド画面</PresentationFormat>
  <Paragraphs>131</Paragraphs>
  <Slides>24</Slides>
  <Notes>7</Notes>
  <HiddenSlides>9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9" baseType="lpstr">
      <vt:lpstr>-webkit-standard</vt:lpstr>
      <vt:lpstr>Aptos</vt:lpstr>
      <vt:lpstr>Aptos Display</vt:lpstr>
      <vt:lpstr>Arial</vt:lpstr>
      <vt:lpstr>Office テーマ</vt:lpstr>
      <vt:lpstr>Jerome Lefebvre</vt:lpstr>
      <vt:lpstr>The WA energy future and the grid</vt:lpstr>
      <vt:lpstr>Weather's impact on transmission lines: SAG </vt:lpstr>
      <vt:lpstr>Thermal Capacity</vt:lpstr>
      <vt:lpstr>Thermal Capacity</vt:lpstr>
      <vt:lpstr>Thermal Capacity</vt:lpstr>
      <vt:lpstr>Thermal Capacity</vt:lpstr>
      <vt:lpstr>PowerPoint プレゼンテーション</vt:lpstr>
      <vt:lpstr>Approach: Attach sensors all over the place</vt:lpstr>
      <vt:lpstr>Approach: Simulate the weather loss</vt:lpstr>
      <vt:lpstr>PowerPoint プレゼンテーション</vt:lpstr>
      <vt:lpstr>Needs Three ingredients</vt:lpstr>
      <vt:lpstr>Calculations</vt:lpstr>
      <vt:lpstr>PowerPoint プレゼンテーション</vt:lpstr>
      <vt:lpstr>The transmission data</vt:lpstr>
      <vt:lpstr>Where will new lines be built?</vt:lpstr>
      <vt:lpstr>What is BOM Data</vt:lpstr>
      <vt:lpstr>What is BOM Data</vt:lpstr>
      <vt:lpstr>Let’s use simulated weather data</vt:lpstr>
      <vt:lpstr>PowerPoint プレゼンテーション</vt:lpstr>
      <vt:lpstr>Queries</vt:lpstr>
      <vt:lpstr>Data Flow</vt:lpstr>
      <vt:lpstr>Other use cases</vt:lpstr>
      <vt:lpstr>Compare sizes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Jerome Lefebvre</dc:creator>
  <cp:lastModifiedBy>Jerome Lefebvre</cp:lastModifiedBy>
  <cp:revision>25</cp:revision>
  <dcterms:created xsi:type="dcterms:W3CDTF">2024-06-18T21:24:54Z</dcterms:created>
  <dcterms:modified xsi:type="dcterms:W3CDTF">2024-07-18T03:23:29Z</dcterms:modified>
</cp:coreProperties>
</file>